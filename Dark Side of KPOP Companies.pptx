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erandory SemiCondensed" charset="1" panose="00000000000000000000"/>
      <p:regular r:id="rId16"/>
    </p:embeddedFont>
    <p:embeddedFont>
      <p:font typeface="Flatory Serif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93916" y="1544121"/>
            <a:ext cx="8988411" cy="4191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34"/>
              </a:lnSpc>
            </a:pPr>
            <a:r>
              <a:rPr lang="en-US" sz="11667">
                <a:solidFill>
                  <a:srgbClr val="FC7D50"/>
                </a:solidFill>
                <a:latin typeface="Perandory SemiCondensed"/>
                <a:ea typeface="Perandory SemiCondensed"/>
                <a:cs typeface="Perandory SemiCondensed"/>
                <a:sym typeface="Perandory SemiCondensed"/>
              </a:rPr>
              <a:t>the dark side of kpop industries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966407">
            <a:off x="10911549" y="-3598530"/>
            <a:ext cx="14752901" cy="12714319"/>
          </a:xfrm>
          <a:custGeom>
            <a:avLst/>
            <a:gdLst/>
            <a:ahLst/>
            <a:cxnLst/>
            <a:rect r="r" b="b" t="t" l="l"/>
            <a:pathLst>
              <a:path h="12714319" w="14752901">
                <a:moveTo>
                  <a:pt x="0" y="0"/>
                </a:moveTo>
                <a:lnTo>
                  <a:pt x="14752902" y="0"/>
                </a:lnTo>
                <a:lnTo>
                  <a:pt x="14752902" y="12714319"/>
                </a:lnTo>
                <a:lnTo>
                  <a:pt x="0" y="127143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680993" y="-40418"/>
            <a:ext cx="5274909" cy="9298718"/>
          </a:xfrm>
          <a:custGeom>
            <a:avLst/>
            <a:gdLst/>
            <a:ahLst/>
            <a:cxnLst/>
            <a:rect r="r" b="b" t="t" l="l"/>
            <a:pathLst>
              <a:path h="9298718" w="5274909">
                <a:moveTo>
                  <a:pt x="0" y="0"/>
                </a:moveTo>
                <a:lnTo>
                  <a:pt x="5274909" y="0"/>
                </a:lnTo>
                <a:lnTo>
                  <a:pt x="5274909" y="9298718"/>
                </a:lnTo>
                <a:lnTo>
                  <a:pt x="0" y="9298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88219">
            <a:off x="-8325631" y="7787572"/>
            <a:ext cx="14752901" cy="12714319"/>
          </a:xfrm>
          <a:custGeom>
            <a:avLst/>
            <a:gdLst/>
            <a:ahLst/>
            <a:cxnLst/>
            <a:rect r="r" b="b" t="t" l="l"/>
            <a:pathLst>
              <a:path h="12714319" w="14752901">
                <a:moveTo>
                  <a:pt x="0" y="0"/>
                </a:moveTo>
                <a:lnTo>
                  <a:pt x="14752902" y="0"/>
                </a:lnTo>
                <a:lnTo>
                  <a:pt x="14752902" y="12714318"/>
                </a:lnTo>
                <a:lnTo>
                  <a:pt x="0" y="12714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713734" y="-5930070"/>
            <a:ext cx="5274909" cy="9298718"/>
          </a:xfrm>
          <a:custGeom>
            <a:avLst/>
            <a:gdLst/>
            <a:ahLst/>
            <a:cxnLst/>
            <a:rect r="r" b="b" t="t" l="l"/>
            <a:pathLst>
              <a:path h="9298718" w="5274909">
                <a:moveTo>
                  <a:pt x="0" y="0"/>
                </a:moveTo>
                <a:lnTo>
                  <a:pt x="5274910" y="0"/>
                </a:lnTo>
                <a:lnTo>
                  <a:pt x="5274910" y="9298719"/>
                </a:lnTo>
                <a:lnTo>
                  <a:pt x="0" y="92987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64629" y="5859302"/>
            <a:ext cx="6758742" cy="2273395"/>
          </a:xfrm>
          <a:custGeom>
            <a:avLst/>
            <a:gdLst/>
            <a:ahLst/>
            <a:cxnLst/>
            <a:rect r="r" b="b" t="t" l="l"/>
            <a:pathLst>
              <a:path h="2273395" w="6758742">
                <a:moveTo>
                  <a:pt x="0" y="0"/>
                </a:moveTo>
                <a:lnTo>
                  <a:pt x="6758742" y="0"/>
                </a:lnTo>
                <a:lnTo>
                  <a:pt x="6758742" y="2273395"/>
                </a:lnTo>
                <a:lnTo>
                  <a:pt x="0" y="2273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871349" y="6162943"/>
            <a:ext cx="2433546" cy="1666113"/>
            <a:chOff x="0" y="0"/>
            <a:chExt cx="1387305" cy="9498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87305" cy="949810"/>
            </a:xfrm>
            <a:custGeom>
              <a:avLst/>
              <a:gdLst/>
              <a:ahLst/>
              <a:cxnLst/>
              <a:rect r="r" b="b" t="t" l="l"/>
              <a:pathLst>
                <a:path h="949810" w="1387305">
                  <a:moveTo>
                    <a:pt x="1184105" y="0"/>
                  </a:moveTo>
                  <a:cubicBezTo>
                    <a:pt x="1296329" y="0"/>
                    <a:pt x="1387305" y="212622"/>
                    <a:pt x="1387305" y="474905"/>
                  </a:cubicBezTo>
                  <a:cubicBezTo>
                    <a:pt x="1387305" y="737188"/>
                    <a:pt x="1296329" y="949810"/>
                    <a:pt x="1184105" y="949810"/>
                  </a:cubicBezTo>
                  <a:lnTo>
                    <a:pt x="203200" y="949810"/>
                  </a:lnTo>
                  <a:cubicBezTo>
                    <a:pt x="90976" y="949810"/>
                    <a:pt x="0" y="737188"/>
                    <a:pt x="0" y="474905"/>
                  </a:cubicBezTo>
                  <a:cubicBezTo>
                    <a:pt x="0" y="212622"/>
                    <a:pt x="90976" y="0"/>
                    <a:pt x="203200" y="0"/>
                  </a:cubicBezTo>
                  <a:close/>
                </a:path>
              </a:pathLst>
            </a:custGeom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387305" cy="1035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BD844D"/>
                  </a:solidFill>
                  <a:latin typeface="Perandory SemiCondensed"/>
                  <a:ea typeface="Perandory SemiCondensed"/>
                  <a:cs typeface="Perandory SemiCondensed"/>
                  <a:sym typeface="Perandory SemiCondensed"/>
                </a:rPr>
                <a:t>Angel wei</a:t>
              </a:r>
            </a:p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BD844D"/>
                  </a:solidFill>
                  <a:latin typeface="Perandory SemiCondensed"/>
                  <a:ea typeface="Perandory SemiCondensed"/>
                  <a:cs typeface="Perandory SemiCondensed"/>
                  <a:sym typeface="Perandory SemiCondensed"/>
                </a:rPr>
                <a:t>Cs1101-060</a:t>
              </a:r>
            </a:p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BD844D"/>
                  </a:solidFill>
                  <a:latin typeface="Perandory SemiCondensed"/>
                  <a:ea typeface="Perandory SemiCondensed"/>
                  <a:cs typeface="Perandory SemiCondensed"/>
                  <a:sym typeface="Perandory SemiCondensed"/>
                </a:rPr>
                <a:t>March 11,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452694">
            <a:off x="-6357832" y="3933555"/>
            <a:ext cx="13159049" cy="11340708"/>
          </a:xfrm>
          <a:custGeom>
            <a:avLst/>
            <a:gdLst/>
            <a:ahLst/>
            <a:cxnLst/>
            <a:rect r="r" b="b" t="t" l="l"/>
            <a:pathLst>
              <a:path h="11340708" w="13159049">
                <a:moveTo>
                  <a:pt x="0" y="0"/>
                </a:moveTo>
                <a:lnTo>
                  <a:pt x="13159049" y="0"/>
                </a:lnTo>
                <a:lnTo>
                  <a:pt x="13159049" y="11340708"/>
                </a:lnTo>
                <a:lnTo>
                  <a:pt x="0" y="11340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404833" y="2834540"/>
            <a:ext cx="19097665" cy="6423760"/>
          </a:xfrm>
          <a:custGeom>
            <a:avLst/>
            <a:gdLst/>
            <a:ahLst/>
            <a:cxnLst/>
            <a:rect r="r" b="b" t="t" l="l"/>
            <a:pathLst>
              <a:path h="6423760" w="19097665">
                <a:moveTo>
                  <a:pt x="0" y="0"/>
                </a:moveTo>
                <a:lnTo>
                  <a:pt x="19097666" y="0"/>
                </a:lnTo>
                <a:lnTo>
                  <a:pt x="19097666" y="6423760"/>
                </a:lnTo>
                <a:lnTo>
                  <a:pt x="0" y="6423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452694">
            <a:off x="10679776" y="-3513387"/>
            <a:ext cx="13159049" cy="11340708"/>
          </a:xfrm>
          <a:custGeom>
            <a:avLst/>
            <a:gdLst/>
            <a:ahLst/>
            <a:cxnLst/>
            <a:rect r="r" b="b" t="t" l="l"/>
            <a:pathLst>
              <a:path h="11340708" w="13159049">
                <a:moveTo>
                  <a:pt x="0" y="0"/>
                </a:moveTo>
                <a:lnTo>
                  <a:pt x="13159048" y="0"/>
                </a:lnTo>
                <a:lnTo>
                  <a:pt x="13159048" y="11340707"/>
                </a:lnTo>
                <a:lnTo>
                  <a:pt x="0" y="11340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5436913" y="1212742"/>
            <a:ext cx="7414174" cy="162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1"/>
              </a:lnSpc>
            </a:pPr>
            <a:r>
              <a:rPr lang="en-US" sz="8901">
                <a:solidFill>
                  <a:srgbClr val="FC7D50"/>
                </a:solidFill>
                <a:latin typeface="Perandory SemiCondensed"/>
                <a:ea typeface="Perandory SemiCondensed"/>
                <a:cs typeface="Perandory SemiCondensed"/>
                <a:sym typeface="Perandory SemiCondensed"/>
              </a:rPr>
              <a:t>what is kpop?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6635" y="4011225"/>
            <a:ext cx="13471637" cy="359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K-p</a:t>
            </a: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op is a global music industry from South Korea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Groups like BTS, BLACKPINK, and many other solo artists helped make it popular worldwide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But behind the performances, idols go through intense training and pressure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452694">
            <a:off x="-6357832" y="3933555"/>
            <a:ext cx="13159049" cy="11340708"/>
          </a:xfrm>
          <a:custGeom>
            <a:avLst/>
            <a:gdLst/>
            <a:ahLst/>
            <a:cxnLst/>
            <a:rect r="r" b="b" t="t" l="l"/>
            <a:pathLst>
              <a:path h="11340708" w="13159049">
                <a:moveTo>
                  <a:pt x="0" y="0"/>
                </a:moveTo>
                <a:lnTo>
                  <a:pt x="13159049" y="0"/>
                </a:lnTo>
                <a:lnTo>
                  <a:pt x="13159049" y="11340708"/>
                </a:lnTo>
                <a:lnTo>
                  <a:pt x="0" y="11340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404833" y="2834540"/>
            <a:ext cx="19097665" cy="6423760"/>
          </a:xfrm>
          <a:custGeom>
            <a:avLst/>
            <a:gdLst/>
            <a:ahLst/>
            <a:cxnLst/>
            <a:rect r="r" b="b" t="t" l="l"/>
            <a:pathLst>
              <a:path h="6423760" w="19097665">
                <a:moveTo>
                  <a:pt x="0" y="0"/>
                </a:moveTo>
                <a:lnTo>
                  <a:pt x="19097666" y="0"/>
                </a:lnTo>
                <a:lnTo>
                  <a:pt x="19097666" y="6423760"/>
                </a:lnTo>
                <a:lnTo>
                  <a:pt x="0" y="6423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452694">
            <a:off x="10679776" y="-3513387"/>
            <a:ext cx="13159049" cy="11340708"/>
          </a:xfrm>
          <a:custGeom>
            <a:avLst/>
            <a:gdLst/>
            <a:ahLst/>
            <a:cxnLst/>
            <a:rect r="r" b="b" t="t" l="l"/>
            <a:pathLst>
              <a:path h="11340708" w="13159049">
                <a:moveTo>
                  <a:pt x="0" y="0"/>
                </a:moveTo>
                <a:lnTo>
                  <a:pt x="13159048" y="0"/>
                </a:lnTo>
                <a:lnTo>
                  <a:pt x="13159048" y="11340707"/>
                </a:lnTo>
                <a:lnTo>
                  <a:pt x="0" y="11340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465534" y="1212742"/>
            <a:ext cx="9356932" cy="162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1"/>
              </a:lnSpc>
            </a:pPr>
            <a:r>
              <a:rPr lang="en-US" sz="8901">
                <a:solidFill>
                  <a:srgbClr val="FC7D50"/>
                </a:solidFill>
                <a:latin typeface="Perandory SemiCondensed"/>
                <a:ea typeface="Perandory SemiCondensed"/>
                <a:cs typeface="Perandory SemiCondensed"/>
                <a:sym typeface="Perandory SemiCondensed"/>
              </a:rPr>
              <a:t>The Trainee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6635" y="4011225"/>
            <a:ext cx="13471637" cy="4315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Thousands of applicants from worldwide every year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Only a small number actually have the chance of becoming a trainee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Even a smaller percentage can debut successfully after years of training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Strict schedules, diets, and competition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452694">
            <a:off x="-6357832" y="3933555"/>
            <a:ext cx="13159049" cy="11340708"/>
          </a:xfrm>
          <a:custGeom>
            <a:avLst/>
            <a:gdLst/>
            <a:ahLst/>
            <a:cxnLst/>
            <a:rect r="r" b="b" t="t" l="l"/>
            <a:pathLst>
              <a:path h="11340708" w="13159049">
                <a:moveTo>
                  <a:pt x="0" y="0"/>
                </a:moveTo>
                <a:lnTo>
                  <a:pt x="13159049" y="0"/>
                </a:lnTo>
                <a:lnTo>
                  <a:pt x="13159049" y="11340708"/>
                </a:lnTo>
                <a:lnTo>
                  <a:pt x="0" y="11340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404833" y="2834540"/>
            <a:ext cx="19097665" cy="6423760"/>
          </a:xfrm>
          <a:custGeom>
            <a:avLst/>
            <a:gdLst/>
            <a:ahLst/>
            <a:cxnLst/>
            <a:rect r="r" b="b" t="t" l="l"/>
            <a:pathLst>
              <a:path h="6423760" w="19097665">
                <a:moveTo>
                  <a:pt x="0" y="0"/>
                </a:moveTo>
                <a:lnTo>
                  <a:pt x="19097666" y="0"/>
                </a:lnTo>
                <a:lnTo>
                  <a:pt x="19097666" y="6423760"/>
                </a:lnTo>
                <a:lnTo>
                  <a:pt x="0" y="6423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452694">
            <a:off x="10679776" y="-3513387"/>
            <a:ext cx="13159049" cy="11340708"/>
          </a:xfrm>
          <a:custGeom>
            <a:avLst/>
            <a:gdLst/>
            <a:ahLst/>
            <a:cxnLst/>
            <a:rect r="r" b="b" t="t" l="l"/>
            <a:pathLst>
              <a:path h="11340708" w="13159049">
                <a:moveTo>
                  <a:pt x="0" y="0"/>
                </a:moveTo>
                <a:lnTo>
                  <a:pt x="13159048" y="0"/>
                </a:lnTo>
                <a:lnTo>
                  <a:pt x="13159048" y="11340707"/>
                </a:lnTo>
                <a:lnTo>
                  <a:pt x="0" y="11340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465534" y="1212742"/>
            <a:ext cx="9356932" cy="162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1"/>
              </a:lnSpc>
            </a:pPr>
            <a:r>
              <a:rPr lang="en-US" sz="8901">
                <a:solidFill>
                  <a:srgbClr val="FC7D50"/>
                </a:solidFill>
                <a:latin typeface="Perandory SemiCondensed"/>
                <a:ea typeface="Perandory SemiCondensed"/>
                <a:cs typeface="Perandory SemiCondensed"/>
                <a:sym typeface="Perandory SemiCondensed"/>
              </a:rPr>
              <a:t>Company Control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6635" y="4011225"/>
            <a:ext cx="13471637" cy="359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Starts immediately right after they signed the contract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Some trainees work for years before earning money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Companies expect idols to maintain a specific public image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452694">
            <a:off x="-6357832" y="3933555"/>
            <a:ext cx="13159049" cy="11340708"/>
          </a:xfrm>
          <a:custGeom>
            <a:avLst/>
            <a:gdLst/>
            <a:ahLst/>
            <a:cxnLst/>
            <a:rect r="r" b="b" t="t" l="l"/>
            <a:pathLst>
              <a:path h="11340708" w="13159049">
                <a:moveTo>
                  <a:pt x="0" y="0"/>
                </a:moveTo>
                <a:lnTo>
                  <a:pt x="13159049" y="0"/>
                </a:lnTo>
                <a:lnTo>
                  <a:pt x="13159049" y="11340708"/>
                </a:lnTo>
                <a:lnTo>
                  <a:pt x="0" y="11340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404833" y="2834540"/>
            <a:ext cx="19097665" cy="6423760"/>
          </a:xfrm>
          <a:custGeom>
            <a:avLst/>
            <a:gdLst/>
            <a:ahLst/>
            <a:cxnLst/>
            <a:rect r="r" b="b" t="t" l="l"/>
            <a:pathLst>
              <a:path h="6423760" w="19097665">
                <a:moveTo>
                  <a:pt x="0" y="0"/>
                </a:moveTo>
                <a:lnTo>
                  <a:pt x="19097666" y="0"/>
                </a:lnTo>
                <a:lnTo>
                  <a:pt x="19097666" y="6423760"/>
                </a:lnTo>
                <a:lnTo>
                  <a:pt x="0" y="6423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452694">
            <a:off x="10679776" y="-3513387"/>
            <a:ext cx="13159049" cy="11340708"/>
          </a:xfrm>
          <a:custGeom>
            <a:avLst/>
            <a:gdLst/>
            <a:ahLst/>
            <a:cxnLst/>
            <a:rect r="r" b="b" t="t" l="l"/>
            <a:pathLst>
              <a:path h="11340708" w="13159049">
                <a:moveTo>
                  <a:pt x="0" y="0"/>
                </a:moveTo>
                <a:lnTo>
                  <a:pt x="13159048" y="0"/>
                </a:lnTo>
                <a:lnTo>
                  <a:pt x="13159048" y="11340707"/>
                </a:lnTo>
                <a:lnTo>
                  <a:pt x="0" y="11340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465534" y="1212742"/>
            <a:ext cx="9356932" cy="162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1"/>
              </a:lnSpc>
            </a:pPr>
            <a:r>
              <a:rPr lang="en-US" sz="8901">
                <a:solidFill>
                  <a:srgbClr val="FC7D50"/>
                </a:solidFill>
                <a:latin typeface="Perandory SemiCondensed"/>
                <a:ea typeface="Perandory SemiCondensed"/>
                <a:cs typeface="Perandory SemiCondensed"/>
                <a:sym typeface="Perandory SemiCondensed"/>
              </a:rPr>
              <a:t>Beauty Standards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6635" y="4011225"/>
            <a:ext cx="13471637" cy="2867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Idols often follow strict diets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Some idols change their appearance to match industry expectations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Pressure to maintain perfect visuals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452694">
            <a:off x="-6357832" y="3933555"/>
            <a:ext cx="13159049" cy="11340708"/>
          </a:xfrm>
          <a:custGeom>
            <a:avLst/>
            <a:gdLst/>
            <a:ahLst/>
            <a:cxnLst/>
            <a:rect r="r" b="b" t="t" l="l"/>
            <a:pathLst>
              <a:path h="11340708" w="13159049">
                <a:moveTo>
                  <a:pt x="0" y="0"/>
                </a:moveTo>
                <a:lnTo>
                  <a:pt x="13159049" y="0"/>
                </a:lnTo>
                <a:lnTo>
                  <a:pt x="13159049" y="11340708"/>
                </a:lnTo>
                <a:lnTo>
                  <a:pt x="0" y="11340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404833" y="2834540"/>
            <a:ext cx="19097665" cy="6423760"/>
          </a:xfrm>
          <a:custGeom>
            <a:avLst/>
            <a:gdLst/>
            <a:ahLst/>
            <a:cxnLst/>
            <a:rect r="r" b="b" t="t" l="l"/>
            <a:pathLst>
              <a:path h="6423760" w="19097665">
                <a:moveTo>
                  <a:pt x="0" y="0"/>
                </a:moveTo>
                <a:lnTo>
                  <a:pt x="19097666" y="0"/>
                </a:lnTo>
                <a:lnTo>
                  <a:pt x="19097666" y="6423760"/>
                </a:lnTo>
                <a:lnTo>
                  <a:pt x="0" y="6423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452694">
            <a:off x="10679776" y="-3513387"/>
            <a:ext cx="13159049" cy="11340708"/>
          </a:xfrm>
          <a:custGeom>
            <a:avLst/>
            <a:gdLst/>
            <a:ahLst/>
            <a:cxnLst/>
            <a:rect r="r" b="b" t="t" l="l"/>
            <a:pathLst>
              <a:path h="11340708" w="13159049">
                <a:moveTo>
                  <a:pt x="0" y="0"/>
                </a:moveTo>
                <a:lnTo>
                  <a:pt x="13159048" y="0"/>
                </a:lnTo>
                <a:lnTo>
                  <a:pt x="13159048" y="11340707"/>
                </a:lnTo>
                <a:lnTo>
                  <a:pt x="0" y="11340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465534" y="1212742"/>
            <a:ext cx="9356932" cy="162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1"/>
              </a:lnSpc>
            </a:pPr>
            <a:r>
              <a:rPr lang="en-US" sz="8901">
                <a:solidFill>
                  <a:srgbClr val="FC7D50"/>
                </a:solidFill>
                <a:latin typeface="Perandory SemiCondensed"/>
                <a:ea typeface="Perandory SemiCondensed"/>
                <a:cs typeface="Perandory SemiCondensed"/>
                <a:sym typeface="Perandory SemiCondensed"/>
              </a:rPr>
              <a:t>Fan Pressure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6635" y="4011225"/>
            <a:ext cx="13471637" cy="4315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Fans help idols become successful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Fans stream songs, buy albums, and promote artists online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Some fans closely watch idols’ personal lives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Idols may face criticism if they do something fans dislike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452694">
            <a:off x="-6357832" y="3933555"/>
            <a:ext cx="13159049" cy="11340708"/>
          </a:xfrm>
          <a:custGeom>
            <a:avLst/>
            <a:gdLst/>
            <a:ahLst/>
            <a:cxnLst/>
            <a:rect r="r" b="b" t="t" l="l"/>
            <a:pathLst>
              <a:path h="11340708" w="13159049">
                <a:moveTo>
                  <a:pt x="0" y="0"/>
                </a:moveTo>
                <a:lnTo>
                  <a:pt x="13159049" y="0"/>
                </a:lnTo>
                <a:lnTo>
                  <a:pt x="13159049" y="11340708"/>
                </a:lnTo>
                <a:lnTo>
                  <a:pt x="0" y="11340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404833" y="2834540"/>
            <a:ext cx="19097665" cy="6423760"/>
          </a:xfrm>
          <a:custGeom>
            <a:avLst/>
            <a:gdLst/>
            <a:ahLst/>
            <a:cxnLst/>
            <a:rect r="r" b="b" t="t" l="l"/>
            <a:pathLst>
              <a:path h="6423760" w="19097665">
                <a:moveTo>
                  <a:pt x="0" y="0"/>
                </a:moveTo>
                <a:lnTo>
                  <a:pt x="19097666" y="0"/>
                </a:lnTo>
                <a:lnTo>
                  <a:pt x="19097666" y="6423760"/>
                </a:lnTo>
                <a:lnTo>
                  <a:pt x="0" y="6423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452694">
            <a:off x="10679776" y="-3513387"/>
            <a:ext cx="13159049" cy="11340708"/>
          </a:xfrm>
          <a:custGeom>
            <a:avLst/>
            <a:gdLst/>
            <a:ahLst/>
            <a:cxnLst/>
            <a:rect r="r" b="b" t="t" l="l"/>
            <a:pathLst>
              <a:path h="11340708" w="13159049">
                <a:moveTo>
                  <a:pt x="0" y="0"/>
                </a:moveTo>
                <a:lnTo>
                  <a:pt x="13159048" y="0"/>
                </a:lnTo>
                <a:lnTo>
                  <a:pt x="13159048" y="11340707"/>
                </a:lnTo>
                <a:lnTo>
                  <a:pt x="0" y="11340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489813" y="1212718"/>
            <a:ext cx="10965281" cy="162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1"/>
              </a:lnSpc>
            </a:pPr>
            <a:r>
              <a:rPr lang="en-US" sz="8901">
                <a:solidFill>
                  <a:srgbClr val="FC7D50"/>
                </a:solidFill>
                <a:latin typeface="Perandory SemiCondensed"/>
                <a:ea typeface="Perandory SemiCondensed"/>
                <a:cs typeface="Perandory SemiCondensed"/>
                <a:sym typeface="Perandory SemiCondensed"/>
              </a:rPr>
              <a:t>Mental Health Pressure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6635" y="4011225"/>
            <a:ext cx="13471637" cy="2867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Idols are constantly in the public spotlight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Busy schedules and a lack of privacy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Pressure from companies, fans, and media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Can lead to stress and mental health struggles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024" r="0" b="-10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452694">
            <a:off x="-6357832" y="3933555"/>
            <a:ext cx="13159049" cy="11340708"/>
          </a:xfrm>
          <a:custGeom>
            <a:avLst/>
            <a:gdLst/>
            <a:ahLst/>
            <a:cxnLst/>
            <a:rect r="r" b="b" t="t" l="l"/>
            <a:pathLst>
              <a:path h="11340708" w="13159049">
                <a:moveTo>
                  <a:pt x="0" y="0"/>
                </a:moveTo>
                <a:lnTo>
                  <a:pt x="13159049" y="0"/>
                </a:lnTo>
                <a:lnTo>
                  <a:pt x="13159049" y="11340708"/>
                </a:lnTo>
                <a:lnTo>
                  <a:pt x="0" y="11340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4452694">
            <a:off x="10679776" y="-3513387"/>
            <a:ext cx="13159049" cy="11340708"/>
          </a:xfrm>
          <a:custGeom>
            <a:avLst/>
            <a:gdLst/>
            <a:ahLst/>
            <a:cxnLst/>
            <a:rect r="r" b="b" t="t" l="l"/>
            <a:pathLst>
              <a:path h="11340708" w="13159049">
                <a:moveTo>
                  <a:pt x="0" y="0"/>
                </a:moveTo>
                <a:lnTo>
                  <a:pt x="13159048" y="0"/>
                </a:lnTo>
                <a:lnTo>
                  <a:pt x="13159048" y="11340707"/>
                </a:lnTo>
                <a:lnTo>
                  <a:pt x="0" y="11340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20294" y="3197932"/>
            <a:ext cx="17447411" cy="5452316"/>
          </a:xfrm>
          <a:custGeom>
            <a:avLst/>
            <a:gdLst/>
            <a:ahLst/>
            <a:cxnLst/>
            <a:rect r="r" b="b" t="t" l="l"/>
            <a:pathLst>
              <a:path h="5452316" w="17447411">
                <a:moveTo>
                  <a:pt x="0" y="0"/>
                </a:moveTo>
                <a:lnTo>
                  <a:pt x="17447412" y="0"/>
                </a:lnTo>
                <a:lnTo>
                  <a:pt x="17447412" y="5452316"/>
                </a:lnTo>
                <a:lnTo>
                  <a:pt x="0" y="54523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89813" y="-5056"/>
            <a:ext cx="10965281" cy="3202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1"/>
              </a:lnSpc>
            </a:pPr>
            <a:r>
              <a:rPr lang="en-US" sz="8901">
                <a:solidFill>
                  <a:srgbClr val="FC7D50"/>
                </a:solidFill>
                <a:latin typeface="Perandory SemiCondensed"/>
                <a:ea typeface="Perandory SemiCondensed"/>
                <a:cs typeface="Perandory SemiCondensed"/>
                <a:sym typeface="Perandory SemiCondensed"/>
              </a:rPr>
              <a:t>Screenshot of NotebookLM Sources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52694">
            <a:off x="-6357832" y="3933555"/>
            <a:ext cx="13159049" cy="11340708"/>
          </a:xfrm>
          <a:custGeom>
            <a:avLst/>
            <a:gdLst/>
            <a:ahLst/>
            <a:cxnLst/>
            <a:rect r="r" b="b" t="t" l="l"/>
            <a:pathLst>
              <a:path h="11340708" w="13159049">
                <a:moveTo>
                  <a:pt x="0" y="0"/>
                </a:moveTo>
                <a:lnTo>
                  <a:pt x="13159049" y="0"/>
                </a:lnTo>
                <a:lnTo>
                  <a:pt x="13159049" y="11340708"/>
                </a:lnTo>
                <a:lnTo>
                  <a:pt x="0" y="11340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04833" y="2834540"/>
            <a:ext cx="19097665" cy="6423760"/>
          </a:xfrm>
          <a:custGeom>
            <a:avLst/>
            <a:gdLst/>
            <a:ahLst/>
            <a:cxnLst/>
            <a:rect r="r" b="b" t="t" l="l"/>
            <a:pathLst>
              <a:path h="6423760" w="19097665">
                <a:moveTo>
                  <a:pt x="0" y="0"/>
                </a:moveTo>
                <a:lnTo>
                  <a:pt x="19097666" y="0"/>
                </a:lnTo>
                <a:lnTo>
                  <a:pt x="19097666" y="6423760"/>
                </a:lnTo>
                <a:lnTo>
                  <a:pt x="0" y="6423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452694">
            <a:off x="10679776" y="-3513387"/>
            <a:ext cx="13159049" cy="11340708"/>
          </a:xfrm>
          <a:custGeom>
            <a:avLst/>
            <a:gdLst/>
            <a:ahLst/>
            <a:cxnLst/>
            <a:rect r="r" b="b" t="t" l="l"/>
            <a:pathLst>
              <a:path h="11340708" w="13159049">
                <a:moveTo>
                  <a:pt x="0" y="0"/>
                </a:moveTo>
                <a:lnTo>
                  <a:pt x="13159048" y="0"/>
                </a:lnTo>
                <a:lnTo>
                  <a:pt x="13159048" y="11340707"/>
                </a:lnTo>
                <a:lnTo>
                  <a:pt x="0" y="113407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3489813" y="1212718"/>
            <a:ext cx="10965281" cy="162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1"/>
              </a:lnSpc>
            </a:pPr>
            <a:r>
              <a:rPr lang="en-US" sz="8901">
                <a:solidFill>
                  <a:srgbClr val="FC7D50"/>
                </a:solidFill>
                <a:latin typeface="Perandory SemiCondensed"/>
                <a:ea typeface="Perandory SemiCondensed"/>
                <a:cs typeface="Perandory SemiCondensed"/>
                <a:sym typeface="Perandory SemiCondensed"/>
              </a:rPr>
              <a:t>Audio Overview Summary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36635" y="4011225"/>
            <a:ext cx="13471637" cy="4315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The podcast talked about the trainee system and how competitive it is to debut in the K-pop industry.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It also explained the amount of control entertainment companies have over idols.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The discussion included beauty standards and the pressure idols face from fans and the public.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52694">
            <a:off x="-6357832" y="3933555"/>
            <a:ext cx="13159049" cy="11340708"/>
          </a:xfrm>
          <a:custGeom>
            <a:avLst/>
            <a:gdLst/>
            <a:ahLst/>
            <a:cxnLst/>
            <a:rect r="r" b="b" t="t" l="l"/>
            <a:pathLst>
              <a:path h="11340708" w="13159049">
                <a:moveTo>
                  <a:pt x="0" y="0"/>
                </a:moveTo>
                <a:lnTo>
                  <a:pt x="13159049" y="0"/>
                </a:lnTo>
                <a:lnTo>
                  <a:pt x="13159049" y="11340708"/>
                </a:lnTo>
                <a:lnTo>
                  <a:pt x="0" y="11340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04833" y="2834540"/>
            <a:ext cx="19097665" cy="6423760"/>
          </a:xfrm>
          <a:custGeom>
            <a:avLst/>
            <a:gdLst/>
            <a:ahLst/>
            <a:cxnLst/>
            <a:rect r="r" b="b" t="t" l="l"/>
            <a:pathLst>
              <a:path h="6423760" w="19097665">
                <a:moveTo>
                  <a:pt x="0" y="0"/>
                </a:moveTo>
                <a:lnTo>
                  <a:pt x="19097666" y="0"/>
                </a:lnTo>
                <a:lnTo>
                  <a:pt x="19097666" y="6423760"/>
                </a:lnTo>
                <a:lnTo>
                  <a:pt x="0" y="6423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452694">
            <a:off x="10679776" y="-3513387"/>
            <a:ext cx="13159049" cy="11340708"/>
          </a:xfrm>
          <a:custGeom>
            <a:avLst/>
            <a:gdLst/>
            <a:ahLst/>
            <a:cxnLst/>
            <a:rect r="r" b="b" t="t" l="l"/>
            <a:pathLst>
              <a:path h="11340708" w="13159049">
                <a:moveTo>
                  <a:pt x="0" y="0"/>
                </a:moveTo>
                <a:lnTo>
                  <a:pt x="13159048" y="0"/>
                </a:lnTo>
                <a:lnTo>
                  <a:pt x="13159048" y="11340707"/>
                </a:lnTo>
                <a:lnTo>
                  <a:pt x="0" y="113407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3489813" y="1212718"/>
            <a:ext cx="10965281" cy="162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1"/>
              </a:lnSpc>
            </a:pPr>
            <a:r>
              <a:rPr lang="en-US" sz="8901">
                <a:solidFill>
                  <a:srgbClr val="FC7D50"/>
                </a:solidFill>
                <a:latin typeface="Perandory SemiCondensed"/>
                <a:ea typeface="Perandory SemiCondensed"/>
                <a:cs typeface="Perandory SemiCondensed"/>
                <a:sym typeface="Perandory SemiCondense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36635" y="4011225"/>
            <a:ext cx="13471637" cy="4315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K-pop is globally popular but comes with many challenges.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Idols face pressure from companies, beauty standards, and fans</a:t>
            </a:r>
          </a:p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C7D50"/>
                </a:solidFill>
                <a:latin typeface="Flatory Serif"/>
                <a:ea typeface="Flatory Serif"/>
                <a:cs typeface="Flatory Serif"/>
                <a:sym typeface="Flatory Serif"/>
              </a:rPr>
              <a:t>Understanding these issues helps people see the reality behind the performances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DAHDq3RsVAY</dc:identifier>
  <dcterms:modified xsi:type="dcterms:W3CDTF">2011-08-01T06:04:30Z</dcterms:modified>
  <cp:revision>1</cp:revision>
  <dc:title>Dark Side of KPOP Companies</dc:title>
</cp:coreProperties>
</file>